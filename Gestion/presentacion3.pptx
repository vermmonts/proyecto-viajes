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0" r:id="rId2"/>
    <p:sldId id="269" r:id="rId3"/>
    <p:sldId id="271" r:id="rId4"/>
    <p:sldId id="273" r:id="rId5"/>
    <p:sldId id="272" r:id="rId6"/>
    <p:sldId id="275" r:id="rId7"/>
    <p:sldId id="274" r:id="rId8"/>
    <p:sldId id="276" r:id="rId9"/>
    <p:sldId id="28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C8"/>
    <a:srgbClr val="0F2239"/>
    <a:srgbClr val="008080"/>
    <a:srgbClr val="56E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6" autoAdjust="0"/>
  </p:normalViewPr>
  <p:slideViewPr>
    <p:cSldViewPr snapToGrid="0" snapToObjects="1">
      <p:cViewPr>
        <p:scale>
          <a:sx n="90" d="100"/>
          <a:sy n="90" d="100"/>
        </p:scale>
        <p:origin x="1238" y="-4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1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MÓDULOS APLICADOS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CASOS DE PRUEBAS UNITARIAS</c:v>
                </c:pt>
              </c:strCache>
            </c:strRef>
          </c:tx>
          <c:cat>
            <c:strRef>
              <c:f>Hoja1!$A$2:$A$8</c:f>
              <c:strCache>
                <c:ptCount val="7"/>
                <c:pt idx="0">
                  <c:v>Registro de usuario. </c:v>
                </c:pt>
                <c:pt idx="1">
                  <c:v>Inicio de Sesión.</c:v>
                </c:pt>
                <c:pt idx="2">
                  <c:v>Búsqueda con IA.</c:v>
                </c:pt>
                <c:pt idx="3">
                  <c:v>Creación de viajes.</c:v>
                </c:pt>
                <c:pt idx="4">
                  <c:v>Consulta de viajes.</c:v>
                </c:pt>
                <c:pt idx="5">
                  <c:v>Actualización de viajes.</c:v>
                </c:pt>
                <c:pt idx="6">
                  <c:v>Eliminación de viajes.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D-4276-9A1D-8665175692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4960875984251965"/>
          <c:y val="0.16845792322834646"/>
          <c:w val="0.3503912401574803"/>
          <c:h val="0.83154207677165359"/>
        </c:manualLayout>
      </c:layout>
      <c:overlay val="0"/>
      <c:txPr>
        <a:bodyPr/>
        <a:lstStyle/>
        <a:p>
          <a:pPr>
            <a:defRPr sz="1400">
              <a:solidFill>
                <a:schemeClr val="bg1"/>
              </a:solidFill>
            </a:defRPr>
          </a:pPr>
          <a:endParaRPr lang="es-C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1BDD1-CC87-41CF-8AAE-510D859CB038}" type="datetimeFigureOut">
              <a:rPr lang="es-CL" smtClean="0"/>
              <a:t>18-06-2026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EB7D-32B4-4A1C-B5F7-CCB9128FFB7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227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BEB7D-32B4-4A1C-B5F7-CCB9128FFB71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8334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315888"/>
            <a:ext cx="7772400" cy="1470025"/>
          </a:xfrm>
        </p:spPr>
        <p:txBody>
          <a:bodyPr/>
          <a:lstStyle/>
          <a:p>
            <a:r>
              <a:rPr lang="es-CL" b="1" dirty="0" err="1">
                <a:solidFill>
                  <a:srgbClr val="00CDC8"/>
                </a:solidFill>
              </a:rPr>
              <a:t>Fly</a:t>
            </a:r>
            <a:r>
              <a:rPr lang="es-CL" b="1" dirty="0">
                <a:solidFill>
                  <a:srgbClr val="00CDC8"/>
                </a:solidFill>
              </a:rPr>
              <a:t> and </a:t>
            </a:r>
            <a:r>
              <a:rPr lang="es-CL" b="1" dirty="0" err="1">
                <a:solidFill>
                  <a:srgbClr val="00CDC8"/>
                </a:solidFill>
              </a:rPr>
              <a:t>Lodget</a:t>
            </a:r>
            <a:endParaRPr lang="es-CL" b="1" dirty="0">
              <a:solidFill>
                <a:srgbClr val="00CDC8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5800" y="5131903"/>
            <a:ext cx="4340087" cy="1013791"/>
          </a:xfrm>
        </p:spPr>
        <p:txBody>
          <a:bodyPr>
            <a:normAutofit/>
          </a:bodyPr>
          <a:lstStyle/>
          <a:p>
            <a:pPr algn="l"/>
            <a:r>
              <a:rPr lang="es-CL" sz="1600" dirty="0">
                <a:solidFill>
                  <a:schemeClr val="bg1"/>
                </a:solidFill>
              </a:rPr>
              <a:t>Integrantes: Javier Aliaga M.| Javiera Apablaza L.</a:t>
            </a:r>
          </a:p>
          <a:p>
            <a:pPr algn="l"/>
            <a:r>
              <a:rPr lang="es-CL" sz="1600" dirty="0">
                <a:solidFill>
                  <a:schemeClr val="bg1"/>
                </a:solidFill>
              </a:rPr>
              <a:t>Taller Aplicado de Programación</a:t>
            </a:r>
          </a:p>
          <a:p>
            <a:pPr algn="l"/>
            <a:r>
              <a:rPr lang="es-CL" sz="1600" dirty="0">
                <a:solidFill>
                  <a:schemeClr val="bg1"/>
                </a:solidFill>
              </a:rPr>
              <a:t>Escuela de  Informática y telecomunicaciones </a:t>
            </a: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838200" y="2526543"/>
            <a:ext cx="7772400" cy="489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000" dirty="0">
                <a:solidFill>
                  <a:srgbClr val="00CDC8"/>
                </a:solidFill>
              </a:rPr>
              <a:t>Tu viaje, en un solo lugar</a:t>
            </a:r>
          </a:p>
        </p:txBody>
      </p:sp>
    </p:spTree>
    <p:extLst>
      <p:ext uri="{BB962C8B-B14F-4D97-AF65-F5344CB8AC3E}">
        <p14:creationId xmlns:p14="http://schemas.microsoft.com/office/powerpoint/2010/main" val="200553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432076"/>
            <a:ext cx="3597965" cy="601593"/>
          </a:xfrm>
        </p:spPr>
        <p:txBody>
          <a:bodyPr>
            <a:normAutofit fontScale="90000"/>
          </a:bodyPr>
          <a:lstStyle/>
          <a:p>
            <a:r>
              <a:rPr lang="es-CL" sz="4000" b="0" dirty="0">
                <a:solidFill>
                  <a:srgbClr val="00CDC8"/>
                </a:solidFill>
                <a:latin typeface="+mn-lt"/>
                <a:ea typeface="+mn-ea"/>
                <a:cs typeface="+mn-cs"/>
              </a:rPr>
              <a:t>| INTRODUCCION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2"/>
          </p:nvPr>
        </p:nvSpPr>
        <p:spPr>
          <a:xfrm>
            <a:off x="457199" y="1435100"/>
            <a:ext cx="5046785" cy="4691063"/>
          </a:xfrm>
        </p:spPr>
        <p:txBody>
          <a:bodyPr>
            <a:normAutofit lnSpcReduction="10000"/>
          </a:bodyPr>
          <a:lstStyle/>
          <a:p>
            <a:pPr algn="just"/>
            <a:r>
              <a:rPr lang="es-US" sz="1800" dirty="0">
                <a:solidFill>
                  <a:schemeClr val="bg1"/>
                </a:solidFill>
              </a:rPr>
              <a:t>Analizaremos las pruebas unitarias que se ejecutaron con el propósito de validar el correcto funcionamiento de los componentes principales de la plataforma antes de su integración completa.</a:t>
            </a:r>
            <a:endParaRPr lang="es-CL" sz="1800" dirty="0">
              <a:solidFill>
                <a:schemeClr val="bg1"/>
              </a:solidFill>
            </a:endParaRPr>
          </a:p>
          <a:p>
            <a:pPr algn="just"/>
            <a:endParaRPr lang="es-CL" sz="1800" dirty="0">
              <a:solidFill>
                <a:schemeClr val="bg1"/>
              </a:solidFill>
            </a:endParaRPr>
          </a:p>
          <a:p>
            <a:pPr algn="just"/>
            <a:r>
              <a:rPr lang="es-CL" sz="1800" b="1" dirty="0">
                <a:solidFill>
                  <a:srgbClr val="00CDC8"/>
                </a:solidFill>
              </a:rPr>
              <a:t>Objetivo de las pruebas unitarias</a:t>
            </a:r>
          </a:p>
          <a:p>
            <a:pPr algn="just"/>
            <a:r>
              <a:rPr lang="es-US" sz="1800" dirty="0">
                <a:solidFill>
                  <a:schemeClr val="bg1"/>
                </a:solidFill>
              </a:rPr>
              <a:t>• Verificar el correcto funcionamiento de cada módulo del sistema.</a:t>
            </a:r>
          </a:p>
          <a:p>
            <a:pPr algn="just"/>
            <a:r>
              <a:rPr lang="es-US" sz="1800" dirty="0">
                <a:solidFill>
                  <a:schemeClr val="bg1"/>
                </a:solidFill>
              </a:rPr>
              <a:t>• Detectar errores de validación antes de la integración completa.</a:t>
            </a:r>
          </a:p>
          <a:p>
            <a:pPr algn="just"/>
            <a:r>
              <a:rPr lang="es-US" sz="1800" dirty="0">
                <a:solidFill>
                  <a:schemeClr val="bg1"/>
                </a:solidFill>
              </a:rPr>
              <a:t>• Garantizar la consistencia de los datos almacenados.</a:t>
            </a:r>
          </a:p>
          <a:p>
            <a:pPr algn="just"/>
            <a:r>
              <a:rPr lang="es-US" sz="1800" dirty="0">
                <a:solidFill>
                  <a:schemeClr val="bg1"/>
                </a:solidFill>
              </a:rPr>
              <a:t>• Validar la comunicación con servicios externos y la base de datos.</a:t>
            </a:r>
          </a:p>
          <a:p>
            <a:pPr algn="just"/>
            <a:r>
              <a:rPr lang="es-US" sz="1800" dirty="0">
                <a:solidFill>
                  <a:schemeClr val="bg1"/>
                </a:solidFill>
              </a:rPr>
              <a:t>• Reducir riesgos durante las etapas posteriores del desarrollo y pruebas integrales.</a:t>
            </a:r>
          </a:p>
          <a:p>
            <a:endParaRPr lang="es-CL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25" y="1727635"/>
            <a:ext cx="2750659" cy="376110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8260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417638"/>
            <a:ext cx="8229600" cy="1143000"/>
          </a:xfrm>
        </p:spPr>
        <p:txBody>
          <a:bodyPr>
            <a:noAutofit/>
          </a:bodyPr>
          <a:lstStyle/>
          <a:p>
            <a:pPr algn="just"/>
            <a:r>
              <a:rPr lang="es-US" sz="1800" dirty="0">
                <a:solidFill>
                  <a:schemeClr val="bg1"/>
                </a:solidFill>
                <a:latin typeface="+mn-lt"/>
              </a:rPr>
              <a:t>Para realizar las pruebas se consideró la evaluación en módulos independientes, verificando: Datos de entrada, resultado esperado, resultado obtenido, estado de aprobación.</a:t>
            </a:r>
            <a:endParaRPr lang="es-CL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344556" y="30411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sz="3600" dirty="0">
                <a:solidFill>
                  <a:srgbClr val="00CDC8"/>
                </a:solidFill>
              </a:rPr>
              <a:t>| METODOLOGIAS APLICADAS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392403" y="2717461"/>
            <a:ext cx="1626781" cy="1329071"/>
          </a:xfrm>
          <a:prstGeom prst="roundRect">
            <a:avLst/>
          </a:prstGeom>
          <a:solidFill>
            <a:srgbClr val="00CDC8"/>
          </a:solidFill>
          <a:ln>
            <a:solidFill>
              <a:srgbClr val="0F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Rectángulo redondeado"/>
          <p:cNvSpPr/>
          <p:nvPr/>
        </p:nvSpPr>
        <p:spPr>
          <a:xfrm>
            <a:off x="344556" y="2717461"/>
            <a:ext cx="1722476" cy="1190847"/>
          </a:xfrm>
          <a:prstGeom prst="roundRect">
            <a:avLst/>
          </a:prstGeom>
          <a:solidFill>
            <a:srgbClr val="0F2239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CuadroTexto"/>
          <p:cNvSpPr txBox="1"/>
          <p:nvPr/>
        </p:nvSpPr>
        <p:spPr>
          <a:xfrm>
            <a:off x="392403" y="3143607"/>
            <a:ext cx="162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</a:rPr>
              <a:t>Caso de prueba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2199169" y="4514362"/>
            <a:ext cx="1626781" cy="1329071"/>
          </a:xfrm>
          <a:prstGeom prst="roundRect">
            <a:avLst/>
          </a:prstGeom>
          <a:solidFill>
            <a:srgbClr val="00CDC8"/>
          </a:solidFill>
          <a:ln>
            <a:solidFill>
              <a:srgbClr val="0F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Rectángulo redondeado"/>
          <p:cNvSpPr/>
          <p:nvPr/>
        </p:nvSpPr>
        <p:spPr>
          <a:xfrm>
            <a:off x="2151321" y="4514362"/>
            <a:ext cx="1722476" cy="1190847"/>
          </a:xfrm>
          <a:prstGeom prst="roundRect">
            <a:avLst/>
          </a:prstGeom>
          <a:solidFill>
            <a:srgbClr val="0F2239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CuadroTexto"/>
          <p:cNvSpPr txBox="1"/>
          <p:nvPr/>
        </p:nvSpPr>
        <p:spPr>
          <a:xfrm>
            <a:off x="2199168" y="5009620"/>
            <a:ext cx="162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</a:rPr>
              <a:t>Ejecución</a:t>
            </a:r>
          </a:p>
        </p:txBody>
      </p:sp>
      <p:sp>
        <p:nvSpPr>
          <p:cNvPr id="14" name="13 Rectángulo redondeado"/>
          <p:cNvSpPr/>
          <p:nvPr/>
        </p:nvSpPr>
        <p:spPr>
          <a:xfrm>
            <a:off x="4830726" y="2712986"/>
            <a:ext cx="1626781" cy="1329071"/>
          </a:xfrm>
          <a:prstGeom prst="roundRect">
            <a:avLst/>
          </a:prstGeom>
          <a:solidFill>
            <a:srgbClr val="00CDC8"/>
          </a:solidFill>
          <a:ln>
            <a:solidFill>
              <a:srgbClr val="0F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14 Rectángulo redondeado"/>
          <p:cNvSpPr/>
          <p:nvPr/>
        </p:nvSpPr>
        <p:spPr>
          <a:xfrm>
            <a:off x="4782878" y="2712986"/>
            <a:ext cx="1722476" cy="1190847"/>
          </a:xfrm>
          <a:prstGeom prst="roundRect">
            <a:avLst/>
          </a:prstGeom>
          <a:solidFill>
            <a:srgbClr val="0F2239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15 CuadroTexto"/>
          <p:cNvSpPr txBox="1"/>
          <p:nvPr/>
        </p:nvSpPr>
        <p:spPr>
          <a:xfrm>
            <a:off x="4830725" y="3208244"/>
            <a:ext cx="162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</a:rPr>
              <a:t>Validación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7153937" y="4583473"/>
            <a:ext cx="1626781" cy="1329071"/>
          </a:xfrm>
          <a:prstGeom prst="roundRect">
            <a:avLst/>
          </a:prstGeom>
          <a:solidFill>
            <a:srgbClr val="00CDC8"/>
          </a:solidFill>
          <a:ln>
            <a:solidFill>
              <a:srgbClr val="0F2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17 Rectángulo redondeado"/>
          <p:cNvSpPr/>
          <p:nvPr/>
        </p:nvSpPr>
        <p:spPr>
          <a:xfrm>
            <a:off x="7106089" y="4583473"/>
            <a:ext cx="1722476" cy="1190847"/>
          </a:xfrm>
          <a:prstGeom prst="roundRect">
            <a:avLst/>
          </a:prstGeom>
          <a:solidFill>
            <a:srgbClr val="0F2239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18 CuadroTexto"/>
          <p:cNvSpPr txBox="1"/>
          <p:nvPr/>
        </p:nvSpPr>
        <p:spPr>
          <a:xfrm>
            <a:off x="7153936" y="5078731"/>
            <a:ext cx="162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>
                <a:solidFill>
                  <a:schemeClr val="bg1"/>
                </a:solidFill>
              </a:rPr>
              <a:t>Resultado</a:t>
            </a:r>
          </a:p>
        </p:txBody>
      </p:sp>
      <p:cxnSp>
        <p:nvCxnSpPr>
          <p:cNvPr id="21" name="20 Conector recto"/>
          <p:cNvCxnSpPr/>
          <p:nvPr/>
        </p:nvCxnSpPr>
        <p:spPr>
          <a:xfrm>
            <a:off x="723009" y="4231758"/>
            <a:ext cx="7729875" cy="212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Elipse"/>
          <p:cNvSpPr/>
          <p:nvPr/>
        </p:nvSpPr>
        <p:spPr>
          <a:xfrm>
            <a:off x="1088836" y="4114800"/>
            <a:ext cx="233916" cy="233916"/>
          </a:xfrm>
          <a:prstGeom prst="ellipse">
            <a:avLst/>
          </a:prstGeom>
          <a:solidFill>
            <a:schemeClr val="bg1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3" name="22 Elipse"/>
          <p:cNvSpPr/>
          <p:nvPr/>
        </p:nvSpPr>
        <p:spPr>
          <a:xfrm>
            <a:off x="7850369" y="4114800"/>
            <a:ext cx="233916" cy="233916"/>
          </a:xfrm>
          <a:prstGeom prst="ellipse">
            <a:avLst/>
          </a:prstGeom>
          <a:solidFill>
            <a:schemeClr val="bg1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4" name="23 Elipse"/>
          <p:cNvSpPr/>
          <p:nvPr/>
        </p:nvSpPr>
        <p:spPr>
          <a:xfrm>
            <a:off x="5527157" y="4136065"/>
            <a:ext cx="233916" cy="233916"/>
          </a:xfrm>
          <a:prstGeom prst="ellipse">
            <a:avLst/>
          </a:prstGeom>
          <a:solidFill>
            <a:schemeClr val="bg1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5" name="24 Elipse"/>
          <p:cNvSpPr/>
          <p:nvPr/>
        </p:nvSpPr>
        <p:spPr>
          <a:xfrm>
            <a:off x="2895601" y="4136065"/>
            <a:ext cx="233916" cy="233916"/>
          </a:xfrm>
          <a:prstGeom prst="ellipse">
            <a:avLst/>
          </a:prstGeom>
          <a:solidFill>
            <a:schemeClr val="bg1"/>
          </a:solidFill>
          <a:ln>
            <a:solidFill>
              <a:srgbClr val="00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64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>
                <a:solidFill>
                  <a:srgbClr val="00CDC8"/>
                </a:solidFill>
              </a:rPr>
              <a:t>| CASOS DE PRUEBAS UNITARIAS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49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sz="1800" dirty="0">
                <a:solidFill>
                  <a:schemeClr val="bg1"/>
                </a:solidFill>
              </a:rPr>
              <a:t>Se definieron un total de 22 casos de pruebas distribuidas entre principales módulos del sistema.</a:t>
            </a:r>
          </a:p>
          <a:p>
            <a:pPr marL="0" indent="0">
              <a:buNone/>
            </a:pPr>
            <a:endParaRPr lang="es-CL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L" sz="1800" dirty="0">
              <a:solidFill>
                <a:schemeClr val="bg1"/>
              </a:solidFill>
            </a:endParaRPr>
          </a:p>
        </p:txBody>
      </p:sp>
      <p:graphicFrame>
        <p:nvGraphicFramePr>
          <p:cNvPr id="15" name="14 Gráfico"/>
          <p:cNvGraphicFramePr/>
          <p:nvPr>
            <p:extLst>
              <p:ext uri="{D42A27DB-BD31-4B8C-83A1-F6EECF244321}">
                <p14:modId xmlns:p14="http://schemas.microsoft.com/office/powerpoint/2010/main" val="2601646326"/>
              </p:ext>
            </p:extLst>
          </p:nvPr>
        </p:nvGraphicFramePr>
        <p:xfrm>
          <a:off x="1562100" y="23495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375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6181" y="464119"/>
            <a:ext cx="7895230" cy="668646"/>
          </a:xfrm>
        </p:spPr>
        <p:txBody>
          <a:bodyPr>
            <a:normAutofit/>
          </a:bodyPr>
          <a:lstStyle/>
          <a:p>
            <a:r>
              <a:rPr lang="es-CL" sz="3600" b="0" dirty="0">
                <a:solidFill>
                  <a:srgbClr val="00CDC8"/>
                </a:solidFill>
              </a:rPr>
              <a:t>| REGISTRO USUARIO – INICIO SESION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136DD14-61F4-02EB-395B-B45FC929B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04" y="1415847"/>
            <a:ext cx="4128493" cy="248107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51CCF07-6F92-B0FC-48EC-B03A85BC0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96" y="1415847"/>
            <a:ext cx="4572000" cy="248107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21354B7-D9BF-D7F6-5C5A-BB65BC0C3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04" y="4137940"/>
            <a:ext cx="4128492" cy="206940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D9C81FC-D542-537B-B767-B6FAD6117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796" y="4180008"/>
            <a:ext cx="4394122" cy="21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9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>
                <a:solidFill>
                  <a:srgbClr val="00CDC8"/>
                </a:solidFill>
              </a:rPr>
              <a:t>| BUSQUEDA CON IA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E7EB9C-3299-AE2E-9E38-FAC243E4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82" y="1217295"/>
            <a:ext cx="4466711" cy="216077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4DA2A66-AA8E-CC2B-E65D-45D9472BB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93" y="3721657"/>
            <a:ext cx="4555199" cy="219503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C945ECF-CDB0-9A66-2728-67166F365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479" y="1217295"/>
            <a:ext cx="2982425" cy="469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4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736353"/>
          </a:xfrm>
        </p:spPr>
        <p:txBody>
          <a:bodyPr>
            <a:normAutofit/>
          </a:bodyPr>
          <a:lstStyle/>
          <a:p>
            <a:r>
              <a:rPr lang="es-CL" sz="3600" b="0" dirty="0">
                <a:solidFill>
                  <a:srgbClr val="00CDC8"/>
                </a:solidFill>
              </a:rPr>
              <a:t>| CONSULTAR VIAJES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B26B5C4-7165-6E21-F6F8-0C95FBE62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122997"/>
            <a:ext cx="5010127" cy="252698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07C0695-2C6F-C0E6-76DF-A916ADE72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71" y="4024047"/>
            <a:ext cx="5103029" cy="248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8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736353"/>
          </a:xfrm>
        </p:spPr>
        <p:txBody>
          <a:bodyPr>
            <a:normAutofit/>
          </a:bodyPr>
          <a:lstStyle/>
          <a:p>
            <a:r>
              <a:rPr lang="es-CL" sz="3600" b="0" dirty="0">
                <a:solidFill>
                  <a:srgbClr val="00CDC8"/>
                </a:solidFill>
              </a:rPr>
              <a:t>| ACTUALIZACION Y ELIMINACION VIAJES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EBE1D4-6AFB-9037-3A49-17671127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22" y="1127329"/>
            <a:ext cx="3555569" cy="16844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DDCF6A-5BD8-2746-4AC4-D7999F7E7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47" r="30921"/>
          <a:stretch>
            <a:fillRect/>
          </a:stretch>
        </p:blipFill>
        <p:spPr>
          <a:xfrm>
            <a:off x="4864511" y="1076185"/>
            <a:ext cx="2399070" cy="258922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AA08E68-823F-68A2-2DA8-1F4D72BDB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22" y="3842485"/>
            <a:ext cx="3555569" cy="204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28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sz="3600" dirty="0">
                <a:solidFill>
                  <a:srgbClr val="00CDC8"/>
                </a:solidFill>
              </a:rPr>
              <a:t>| CONCLUSION</a:t>
            </a:r>
          </a:p>
        </p:txBody>
      </p:sp>
      <p:sp>
        <p:nvSpPr>
          <p:cNvPr id="8" name="7 Marcador de contenido"/>
          <p:cNvSpPr>
            <a:spLocks noGrp="1"/>
          </p:cNvSpPr>
          <p:nvPr>
            <p:ph sz="half" idx="1"/>
          </p:nvPr>
        </p:nvSpPr>
        <p:spPr>
          <a:xfrm>
            <a:off x="4775200" y="1587500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US" sz="1800" dirty="0">
                <a:solidFill>
                  <a:schemeClr val="bg1"/>
                </a:solidFill>
              </a:rPr>
              <a:t>Se realizaron un total 17 casos de pruebas distribuidas en los principales módulos, permitiéndonos validar de forma temprana los componentes esenciales para el funcionamiento correcto de </a:t>
            </a:r>
            <a:r>
              <a:rPr lang="es-US" sz="1800" b="1" i="1" dirty="0">
                <a:solidFill>
                  <a:srgbClr val="00CDC8"/>
                </a:solidFill>
              </a:rPr>
              <a:t>Fly and </a:t>
            </a:r>
            <a:r>
              <a:rPr lang="es-US" sz="1800" b="1" i="1" dirty="0" err="1">
                <a:solidFill>
                  <a:srgbClr val="00CDC8"/>
                </a:solidFill>
              </a:rPr>
              <a:t>Lodget</a:t>
            </a:r>
            <a:r>
              <a:rPr lang="es-US" sz="1800" b="1" i="1" dirty="0">
                <a:solidFill>
                  <a:srgbClr val="00CDC8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es-CL" sz="1800" dirty="0">
                <a:solidFill>
                  <a:schemeClr val="bg1"/>
                </a:solidFill>
              </a:rPr>
              <a:t>Esta gestión constituyen una base sólida para futuras pruebas de integración, pruebas funcionales y de aceptación de usuario, asegurando la evolución continua del sistema bajo estándares de calidad y buenas prácticas de desarrollo.</a:t>
            </a:r>
            <a:endParaRPr lang="es-US" sz="18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s-US" sz="1800" b="1" dirty="0">
              <a:solidFill>
                <a:srgbClr val="00CDC8"/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" y="1587500"/>
            <a:ext cx="2640461" cy="361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0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269</Words>
  <Application>Microsoft Office PowerPoint</Application>
  <PresentationFormat>Presentación en pantalla (4:3)</PresentationFormat>
  <Paragraphs>32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Fly and Lodget</vt:lpstr>
      <vt:lpstr>| INTRODUCCION</vt:lpstr>
      <vt:lpstr>Para realizar las pruebas se consideró la evaluación en módulos independientes, verificando: Datos de entrada, resultado esperado, resultado obtenido, estado de aprobación.</vt:lpstr>
      <vt:lpstr>| CASOS DE PRUEBAS UNITARIAS</vt:lpstr>
      <vt:lpstr>| REGISTRO USUARIO – INICIO SESION</vt:lpstr>
      <vt:lpstr>| BUSQUEDA CON IA</vt:lpstr>
      <vt:lpstr>| CONSULTAR VIAJES</vt:lpstr>
      <vt:lpstr>| ACTUALIZACION Y ELIMINACION VIAJES</vt:lpstr>
      <vt:lpstr>| 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Javiera Apablaza L</dc:creator>
  <dc:description>generated using python-pptx</dc:description>
  <cp:lastModifiedBy>Apablaza Lorca, Javiera Paz</cp:lastModifiedBy>
  <cp:revision>18</cp:revision>
  <dcterms:created xsi:type="dcterms:W3CDTF">2013-01-27T09:14:16Z</dcterms:created>
  <dcterms:modified xsi:type="dcterms:W3CDTF">2026-06-18T21:55:34Z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1736b74-315c-4bbe-8a1d-da50c47f75bf_Enabled">
    <vt:lpwstr>true</vt:lpwstr>
  </property>
  <property fmtid="{D5CDD505-2E9C-101B-9397-08002B2CF9AE}" pid="3" name="MSIP_Label_61736b74-315c-4bbe-8a1d-da50c47f75bf_SetDate">
    <vt:lpwstr>2026-06-18T21:55:31Z</vt:lpwstr>
  </property>
  <property fmtid="{D5CDD505-2E9C-101B-9397-08002B2CF9AE}" pid="4" name="MSIP_Label_61736b74-315c-4bbe-8a1d-da50c47f75bf_Method">
    <vt:lpwstr>Standard</vt:lpwstr>
  </property>
  <property fmtid="{D5CDD505-2E9C-101B-9397-08002B2CF9AE}" pid="5" name="MSIP_Label_61736b74-315c-4bbe-8a1d-da50c47f75bf_Name">
    <vt:lpwstr>Interna</vt:lpwstr>
  </property>
  <property fmtid="{D5CDD505-2E9C-101B-9397-08002B2CF9AE}" pid="6" name="MSIP_Label_61736b74-315c-4bbe-8a1d-da50c47f75bf_SiteId">
    <vt:lpwstr>9309cd27-ede3-40b6-8dc4-2c6df909a0e5</vt:lpwstr>
  </property>
  <property fmtid="{D5CDD505-2E9C-101B-9397-08002B2CF9AE}" pid="7" name="MSIP_Label_61736b74-315c-4bbe-8a1d-da50c47f75bf_ActionId">
    <vt:lpwstr>1d5119a3-f576-4649-927a-09957e8365bf</vt:lpwstr>
  </property>
  <property fmtid="{D5CDD505-2E9C-101B-9397-08002B2CF9AE}" pid="8" name="MSIP_Label_61736b74-315c-4bbe-8a1d-da50c47f75bf_ContentBits">
    <vt:lpwstr>0</vt:lpwstr>
  </property>
  <property fmtid="{D5CDD505-2E9C-101B-9397-08002B2CF9AE}" pid="9" name="MSIP_Label_61736b74-315c-4bbe-8a1d-da50c47f75bf_Tag">
    <vt:lpwstr>10, 3, 0, 1</vt:lpwstr>
  </property>
</Properties>
</file>