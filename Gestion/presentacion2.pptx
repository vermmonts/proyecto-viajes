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69" r:id="rId3"/>
    <p:sldId id="271" r:id="rId4"/>
    <p:sldId id="273" r:id="rId5"/>
    <p:sldId id="272" r:id="rId6"/>
    <p:sldId id="275" r:id="rId7"/>
    <p:sldId id="274" r:id="rId8"/>
    <p:sldId id="276" r:id="rId9"/>
    <p:sldId id="278" r:id="rId10"/>
    <p:sldId id="280" r:id="rId11"/>
    <p:sldId id="28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C8"/>
    <a:srgbClr val="0F2239"/>
    <a:srgbClr val="008080"/>
    <a:srgbClr val="56E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6" autoAdjust="0"/>
  </p:normalViewPr>
  <p:slideViewPr>
    <p:cSldViewPr snapToGrid="0" snapToObjects="1">
      <p:cViewPr varScale="1">
        <p:scale>
          <a:sx n="75" d="100"/>
          <a:sy n="75" d="100"/>
        </p:scale>
        <p:origin x="-123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31110"/>
            <a:ext cx="7772400" cy="1470025"/>
          </a:xfrm>
        </p:spPr>
        <p:txBody>
          <a:bodyPr/>
          <a:lstStyle/>
          <a:p>
            <a:r>
              <a:rPr lang="es-CL" b="1" dirty="0" err="1" smtClean="0">
                <a:solidFill>
                  <a:srgbClr val="00CDC8"/>
                </a:solidFill>
              </a:rPr>
              <a:t>Fly</a:t>
            </a:r>
            <a:r>
              <a:rPr lang="es-CL" b="1" dirty="0" smtClean="0">
                <a:solidFill>
                  <a:srgbClr val="00CDC8"/>
                </a:solidFill>
              </a:rPr>
              <a:t> and </a:t>
            </a:r>
            <a:r>
              <a:rPr lang="es-CL" b="1" dirty="0" err="1" smtClean="0">
                <a:solidFill>
                  <a:srgbClr val="00CDC8"/>
                </a:solidFill>
              </a:rPr>
              <a:t>Lodget</a:t>
            </a:r>
            <a:endParaRPr lang="es-CL" b="1" dirty="0">
              <a:solidFill>
                <a:srgbClr val="00CDC8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5800" y="5131903"/>
            <a:ext cx="4340087" cy="1013791"/>
          </a:xfrm>
        </p:spPr>
        <p:txBody>
          <a:bodyPr>
            <a:normAutofit/>
          </a:bodyPr>
          <a:lstStyle/>
          <a:p>
            <a:pPr algn="l"/>
            <a:r>
              <a:rPr lang="es-CL" sz="1600" dirty="0" smtClean="0"/>
              <a:t>Integrantes: Javier Aliaga M.| Javiera Apablaza L.</a:t>
            </a:r>
          </a:p>
          <a:p>
            <a:pPr algn="l"/>
            <a:r>
              <a:rPr lang="es-CL" sz="1600" dirty="0" smtClean="0"/>
              <a:t>Taller Aplicado de Programación</a:t>
            </a:r>
          </a:p>
          <a:p>
            <a:pPr algn="l"/>
            <a:r>
              <a:rPr lang="es-CL" sz="1600" dirty="0" smtClean="0"/>
              <a:t>Escuela de  Informática y telecomunicaciones </a:t>
            </a:r>
            <a:endParaRPr lang="es-CL" sz="1600" dirty="0"/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838200" y="2526543"/>
            <a:ext cx="7772400" cy="489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000" dirty="0" smtClean="0">
                <a:solidFill>
                  <a:srgbClr val="00CDC8"/>
                </a:solidFill>
              </a:rPr>
              <a:t>Tu viaje, en un solo lugar</a:t>
            </a:r>
            <a:endParaRPr lang="es-CL" sz="2000" dirty="0">
              <a:solidFill>
                <a:srgbClr val="00CD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534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432076"/>
            <a:ext cx="3597965" cy="601593"/>
          </a:xfrm>
        </p:spPr>
        <p:txBody>
          <a:bodyPr>
            <a:normAutofit fontScale="90000"/>
          </a:bodyPr>
          <a:lstStyle/>
          <a:p>
            <a:r>
              <a:rPr lang="es-CL" sz="4000" b="0" dirty="0">
                <a:solidFill>
                  <a:srgbClr val="00CDC8"/>
                </a:solidFill>
                <a:latin typeface="+mn-lt"/>
                <a:ea typeface="+mn-ea"/>
                <a:cs typeface="+mn-cs"/>
              </a:rPr>
              <a:t>| INTRODUCCION</a:t>
            </a:r>
            <a:endParaRPr lang="es-CL" sz="4000" b="0" dirty="0">
              <a:solidFill>
                <a:srgbClr val="00CDC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CL" sz="1800" b="1" dirty="0" smtClean="0">
                <a:solidFill>
                  <a:srgbClr val="00CDC8"/>
                </a:solidFill>
              </a:rPr>
              <a:t>El problema</a:t>
            </a:r>
          </a:p>
          <a:p>
            <a:pPr algn="just"/>
            <a:r>
              <a:rPr lang="es-CL" sz="1800" dirty="0" smtClean="0">
                <a:solidFill>
                  <a:schemeClr val="bg1"/>
                </a:solidFill>
              </a:rPr>
              <a:t>La fragmentación de información obliga a los usuarios a navegar por múltiples plataformas, resultando en pérdida de tiempo y dificultad para comparar precios reales.</a:t>
            </a:r>
          </a:p>
          <a:p>
            <a:pPr algn="just"/>
            <a:endParaRPr lang="es-CL" sz="1800" dirty="0" smtClean="0">
              <a:solidFill>
                <a:schemeClr val="bg1"/>
              </a:solidFill>
            </a:endParaRPr>
          </a:p>
          <a:p>
            <a:pPr algn="just"/>
            <a:endParaRPr lang="es-CL" sz="1800" dirty="0">
              <a:solidFill>
                <a:schemeClr val="bg1"/>
              </a:solidFill>
            </a:endParaRPr>
          </a:p>
          <a:p>
            <a:pPr algn="just"/>
            <a:r>
              <a:rPr lang="es-CL" sz="1800" b="1" dirty="0">
                <a:solidFill>
                  <a:srgbClr val="00CDC8"/>
                </a:solidFill>
              </a:rPr>
              <a:t>Nuestra solución</a:t>
            </a:r>
          </a:p>
          <a:p>
            <a:pPr algn="just"/>
            <a:r>
              <a:rPr lang="es-CL" sz="1800" dirty="0" smtClean="0">
                <a:solidFill>
                  <a:schemeClr val="bg1"/>
                </a:solidFill>
              </a:rPr>
              <a:t>Centralizar la planificación en un servicio web escalable que combina resultados de vuelos y alojamiento en un solo flujo eficiente.</a:t>
            </a:r>
          </a:p>
          <a:p>
            <a:endParaRPr lang="es-CL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095" y="1780389"/>
            <a:ext cx="2750659" cy="376110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8260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417638"/>
            <a:ext cx="8229600" cy="1143000"/>
          </a:xfrm>
        </p:spPr>
        <p:txBody>
          <a:bodyPr>
            <a:normAutofit/>
          </a:bodyPr>
          <a:lstStyle/>
          <a:p>
            <a:pPr algn="just"/>
            <a:r>
              <a:rPr lang="es-CL" sz="1800" dirty="0" smtClean="0">
                <a:solidFill>
                  <a:schemeClr val="bg1"/>
                </a:solidFill>
              </a:rPr>
              <a:t>Implementación de ciclos cortos (Sprints) para asegurar  entregas funcionales constantes.</a:t>
            </a:r>
            <a:endParaRPr lang="es-CL" sz="1800" dirty="0">
              <a:solidFill>
                <a:schemeClr val="bg1"/>
              </a:solidFill>
            </a:endParaRP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344556" y="30411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sz="3600" dirty="0" smtClean="0">
                <a:solidFill>
                  <a:srgbClr val="00CDC8"/>
                </a:solidFill>
              </a:rPr>
              <a:t>| METODOLOGIA ÁGIL (SCRUM)</a:t>
            </a:r>
            <a:endParaRPr lang="es-CL" sz="3600" dirty="0">
              <a:solidFill>
                <a:srgbClr val="00CDC8"/>
              </a:solidFill>
            </a:endParaRPr>
          </a:p>
        </p:txBody>
      </p:sp>
      <p:pic>
        <p:nvPicPr>
          <p:cNvPr id="4" name="Picture 1" descr="flylodget_page_3.png"/>
          <p:cNvPicPr>
            <a:picLocks noChangeAspect="1"/>
          </p:cNvPicPr>
          <p:nvPr/>
        </p:nvPicPr>
        <p:blipFill rotWithShape="1">
          <a:blip r:embed="rId2"/>
          <a:srcRect l="4203" t="41546" r="4058" b="15749"/>
          <a:stretch/>
        </p:blipFill>
        <p:spPr>
          <a:xfrm>
            <a:off x="384312" y="2849217"/>
            <a:ext cx="8388627" cy="292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4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 smtClean="0">
                <a:solidFill>
                  <a:srgbClr val="00CDC8"/>
                </a:solidFill>
              </a:rPr>
              <a:t>| PATRONES DE DISEÑO</a:t>
            </a:r>
            <a:endParaRPr lang="es-CL" sz="3600" dirty="0">
              <a:solidFill>
                <a:srgbClr val="00CDC8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596347" y="2173357"/>
            <a:ext cx="2372139" cy="2888973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Rectángulo redondeado"/>
          <p:cNvSpPr/>
          <p:nvPr/>
        </p:nvSpPr>
        <p:spPr>
          <a:xfrm>
            <a:off x="3491947" y="2173357"/>
            <a:ext cx="2372139" cy="2888973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Rectángulo redondeado"/>
          <p:cNvSpPr/>
          <p:nvPr/>
        </p:nvSpPr>
        <p:spPr>
          <a:xfrm>
            <a:off x="6155632" y="2173357"/>
            <a:ext cx="2372139" cy="2888973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10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46" y="2173356"/>
            <a:ext cx="2428794" cy="2787263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946" y="2173355"/>
            <a:ext cx="2428794" cy="2787263"/>
          </a:xfrm>
          <a:prstGeom prst="rect">
            <a:avLst/>
          </a:prstGeom>
        </p:spPr>
      </p:pic>
      <p:pic>
        <p:nvPicPr>
          <p:cNvPr id="14" name="13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632" y="2173354"/>
            <a:ext cx="2439728" cy="278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5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6181" y="464119"/>
            <a:ext cx="7895230" cy="668646"/>
          </a:xfrm>
        </p:spPr>
        <p:txBody>
          <a:bodyPr>
            <a:normAutofit/>
          </a:bodyPr>
          <a:lstStyle/>
          <a:p>
            <a:r>
              <a:rPr lang="es-CL" sz="3600" b="0" dirty="0" smtClean="0">
                <a:solidFill>
                  <a:srgbClr val="00CDC8"/>
                </a:solidFill>
              </a:rPr>
              <a:t>| ARQUITECTURA DEL SISTEMA</a:t>
            </a:r>
            <a:endParaRPr lang="es-CL" sz="3600" b="0" dirty="0">
              <a:solidFill>
                <a:srgbClr val="00CDC8"/>
              </a:solidFill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179325" y="1846618"/>
            <a:ext cx="3008313" cy="3464896"/>
          </a:xfrm>
        </p:spPr>
        <p:txBody>
          <a:bodyPr>
            <a:normAutofit fontScale="92500"/>
          </a:bodyPr>
          <a:lstStyle/>
          <a:p>
            <a:pPr algn="just"/>
            <a:r>
              <a:rPr lang="es-CL" sz="1900" dirty="0" smtClean="0">
                <a:solidFill>
                  <a:srgbClr val="00CDC8"/>
                </a:solidFill>
              </a:rPr>
              <a:t>Frontend </a:t>
            </a:r>
            <a:r>
              <a:rPr lang="es-CL" sz="1900" dirty="0" err="1" smtClean="0">
                <a:solidFill>
                  <a:schemeClr val="bg1"/>
                </a:solidFill>
              </a:rPr>
              <a:t>React</a:t>
            </a:r>
            <a:r>
              <a:rPr lang="es-CL" sz="1900" dirty="0" smtClean="0">
                <a:solidFill>
                  <a:schemeClr val="bg1"/>
                </a:solidFill>
              </a:rPr>
              <a:t> para interfaces dinámicas.</a:t>
            </a:r>
            <a:endParaRPr lang="es-CL" sz="1900" dirty="0" smtClean="0">
              <a:solidFill>
                <a:srgbClr val="00CDC8"/>
              </a:solidFill>
            </a:endParaRPr>
          </a:p>
          <a:p>
            <a:pPr algn="just"/>
            <a:endParaRPr lang="es-CL" sz="1900" dirty="0">
              <a:solidFill>
                <a:srgbClr val="00CDC8"/>
              </a:solidFill>
            </a:endParaRPr>
          </a:p>
          <a:p>
            <a:pPr algn="just"/>
            <a:r>
              <a:rPr lang="es-CL" sz="1900" dirty="0" smtClean="0">
                <a:solidFill>
                  <a:srgbClr val="00CDC8"/>
                </a:solidFill>
              </a:rPr>
              <a:t>Backend </a:t>
            </a:r>
            <a:r>
              <a:rPr lang="es-CL" sz="1900" dirty="0" smtClean="0">
                <a:solidFill>
                  <a:schemeClr val="bg1"/>
                </a:solidFill>
              </a:rPr>
              <a:t>Servidor </a:t>
            </a:r>
            <a:r>
              <a:rPr lang="es-CL" sz="1900" dirty="0" err="1" smtClean="0">
                <a:solidFill>
                  <a:schemeClr val="bg1"/>
                </a:solidFill>
              </a:rPr>
              <a:t>express</a:t>
            </a:r>
            <a:r>
              <a:rPr lang="es-CL" sz="1900" dirty="0" smtClean="0">
                <a:solidFill>
                  <a:schemeClr val="bg1"/>
                </a:solidFill>
              </a:rPr>
              <a:t> procesando lógica compleja.</a:t>
            </a:r>
            <a:endParaRPr lang="es-CL" sz="1900" dirty="0" smtClean="0">
              <a:solidFill>
                <a:srgbClr val="00CDC8"/>
              </a:solidFill>
            </a:endParaRPr>
          </a:p>
          <a:p>
            <a:pPr algn="just"/>
            <a:endParaRPr lang="es-CL" sz="1900" dirty="0">
              <a:solidFill>
                <a:srgbClr val="00CDC8"/>
              </a:solidFill>
            </a:endParaRPr>
          </a:p>
          <a:p>
            <a:pPr algn="just"/>
            <a:r>
              <a:rPr lang="es-CL" sz="1900" dirty="0" smtClean="0">
                <a:solidFill>
                  <a:srgbClr val="00CDC8"/>
                </a:solidFill>
              </a:rPr>
              <a:t>Base de Datos </a:t>
            </a:r>
            <a:r>
              <a:rPr lang="es-CL" sz="1900" dirty="0" err="1" smtClean="0">
                <a:solidFill>
                  <a:schemeClr val="bg1"/>
                </a:solidFill>
              </a:rPr>
              <a:t>PostgreSQL</a:t>
            </a:r>
            <a:r>
              <a:rPr lang="es-CL" sz="1900" dirty="0" smtClean="0">
                <a:solidFill>
                  <a:schemeClr val="bg1"/>
                </a:solidFill>
              </a:rPr>
              <a:t> para historial de perfiles</a:t>
            </a:r>
            <a:endParaRPr lang="es-CL" sz="1900" dirty="0" smtClean="0">
              <a:solidFill>
                <a:srgbClr val="00CDC8"/>
              </a:solidFill>
            </a:endParaRPr>
          </a:p>
          <a:p>
            <a:pPr algn="just"/>
            <a:endParaRPr lang="es-CL" sz="1900" dirty="0">
              <a:solidFill>
                <a:srgbClr val="00CDC8"/>
              </a:solidFill>
            </a:endParaRPr>
          </a:p>
          <a:p>
            <a:pPr algn="just"/>
            <a:r>
              <a:rPr lang="es-CL" sz="1900" dirty="0" err="1" smtClean="0">
                <a:solidFill>
                  <a:srgbClr val="00CDC8"/>
                </a:solidFill>
              </a:rPr>
              <a:t>Gateways</a:t>
            </a:r>
            <a:r>
              <a:rPr lang="es-CL" sz="1900" dirty="0" smtClean="0">
                <a:solidFill>
                  <a:srgbClr val="00CDC8"/>
                </a:solidFill>
              </a:rPr>
              <a:t> </a:t>
            </a:r>
            <a:r>
              <a:rPr lang="es-CL" sz="1900" dirty="0" smtClean="0">
                <a:solidFill>
                  <a:schemeClr val="bg1"/>
                </a:solidFill>
              </a:rPr>
              <a:t>Integración de REST con proveedores externos.</a:t>
            </a:r>
            <a:r>
              <a:rPr lang="es-CL" sz="1900" dirty="0" smtClean="0">
                <a:solidFill>
                  <a:srgbClr val="00CDC8"/>
                </a:solidFill>
              </a:rPr>
              <a:t> </a:t>
            </a:r>
          </a:p>
          <a:p>
            <a:endParaRPr lang="es-CL" dirty="0">
              <a:solidFill>
                <a:srgbClr val="00CDC8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81" y="1846618"/>
            <a:ext cx="4457842" cy="3464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429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 smtClean="0">
                <a:solidFill>
                  <a:srgbClr val="00CDC8"/>
                </a:solidFill>
              </a:rPr>
              <a:t>| Tecnologías utilizadas</a:t>
            </a:r>
            <a:endParaRPr lang="es-CL" sz="3600" dirty="0">
              <a:solidFill>
                <a:srgbClr val="00CDC8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596347" y="2173357"/>
            <a:ext cx="2372139" cy="2888973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Rectángulo redondeado"/>
          <p:cNvSpPr/>
          <p:nvPr/>
        </p:nvSpPr>
        <p:spPr>
          <a:xfrm>
            <a:off x="3491947" y="2173357"/>
            <a:ext cx="2372139" cy="2888973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Rectángulo redondeado"/>
          <p:cNvSpPr/>
          <p:nvPr/>
        </p:nvSpPr>
        <p:spPr>
          <a:xfrm>
            <a:off x="6155632" y="2173357"/>
            <a:ext cx="2372139" cy="2888973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47" y="2173358"/>
            <a:ext cx="2455611" cy="2778652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632" y="2173358"/>
            <a:ext cx="2531168" cy="2778652"/>
          </a:xfrm>
          <a:prstGeom prst="rect">
            <a:avLst/>
          </a:prstGeom>
        </p:spPr>
      </p:pic>
      <p:pic>
        <p:nvPicPr>
          <p:cNvPr id="2050" name="Picture 2" descr="C:\Users\japab\OneDrive\Pictures\Screenshots\Captura de pantalla 2026-06-02 00172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283" y="2173358"/>
            <a:ext cx="2469466" cy="2778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34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736353"/>
          </a:xfrm>
        </p:spPr>
        <p:txBody>
          <a:bodyPr>
            <a:normAutofit/>
          </a:bodyPr>
          <a:lstStyle/>
          <a:p>
            <a:r>
              <a:rPr lang="es-CL" sz="3600" b="0" dirty="0" smtClean="0">
                <a:solidFill>
                  <a:srgbClr val="00CDC8"/>
                </a:solidFill>
              </a:rPr>
              <a:t>| CONFIGURACION DEL SERVIDOR</a:t>
            </a:r>
            <a:endParaRPr lang="es-CL" sz="3600" b="0" dirty="0">
              <a:solidFill>
                <a:srgbClr val="00CDC8"/>
              </a:solidFill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CL" sz="1800" b="1" dirty="0" smtClean="0">
                <a:solidFill>
                  <a:srgbClr val="00CDC8"/>
                </a:solidFill>
              </a:rPr>
              <a:t>Entorno Cloud</a:t>
            </a:r>
          </a:p>
          <a:p>
            <a:pPr algn="just"/>
            <a:endParaRPr lang="es-CL" sz="1800" dirty="0">
              <a:solidFill>
                <a:srgbClr val="00CDC8"/>
              </a:solidFill>
            </a:endParaRPr>
          </a:p>
          <a:p>
            <a:pPr algn="just"/>
            <a:r>
              <a:rPr lang="es-CL" sz="1800" dirty="0" smtClean="0">
                <a:solidFill>
                  <a:schemeClr val="bg1"/>
                </a:solidFill>
              </a:rPr>
              <a:t>El sistema está diseñado para despliegue continuo en plataformas de alto rendimiento.</a:t>
            </a:r>
          </a:p>
          <a:p>
            <a:pPr algn="just"/>
            <a:endParaRPr lang="es-CL" sz="1800" dirty="0" smtClean="0">
              <a:solidFill>
                <a:schemeClr val="bg1"/>
              </a:solidFill>
            </a:endParaRPr>
          </a:p>
          <a:p>
            <a:pPr algn="just"/>
            <a:endParaRPr lang="es-CL" sz="1800" dirty="0">
              <a:solidFill>
                <a:schemeClr val="bg1"/>
              </a:solidFill>
            </a:endParaRPr>
          </a:p>
          <a:p>
            <a:pPr algn="just"/>
            <a:endParaRPr lang="es-CL" sz="1800" dirty="0">
              <a:solidFill>
                <a:schemeClr val="bg1"/>
              </a:solidFill>
            </a:endParaRPr>
          </a:p>
          <a:p>
            <a:pPr algn="just"/>
            <a:r>
              <a:rPr lang="es-CL" sz="1800" dirty="0" err="1" smtClean="0">
                <a:solidFill>
                  <a:schemeClr val="bg1"/>
                </a:solidFill>
              </a:rPr>
              <a:t>Vercel</a:t>
            </a:r>
            <a:r>
              <a:rPr lang="es-CL" sz="1800" dirty="0">
                <a:solidFill>
                  <a:schemeClr val="bg1"/>
                </a:solidFill>
              </a:rPr>
              <a:t>	</a:t>
            </a:r>
            <a:r>
              <a:rPr lang="es-CL" sz="1800" dirty="0" smtClean="0">
                <a:solidFill>
                  <a:schemeClr val="bg1"/>
                </a:solidFill>
              </a:rPr>
              <a:t> </a:t>
            </a:r>
            <a:r>
              <a:rPr lang="es-CL" sz="1800" dirty="0" err="1" smtClean="0">
                <a:solidFill>
                  <a:schemeClr val="bg1"/>
                </a:solidFill>
              </a:rPr>
              <a:t>Render</a:t>
            </a:r>
            <a:r>
              <a:rPr lang="es-CL" sz="1800" dirty="0" smtClean="0">
                <a:solidFill>
                  <a:schemeClr val="bg1"/>
                </a:solidFill>
              </a:rPr>
              <a:t>	     AWS</a:t>
            </a:r>
            <a:endParaRPr lang="es-CL" sz="1800" dirty="0">
              <a:solidFill>
                <a:schemeClr val="bg1"/>
              </a:solidFill>
            </a:endParaRPr>
          </a:p>
        </p:txBody>
      </p:sp>
      <p:sp>
        <p:nvSpPr>
          <p:cNvPr id="5" name="4 Elipse"/>
          <p:cNvSpPr/>
          <p:nvPr/>
        </p:nvSpPr>
        <p:spPr>
          <a:xfrm>
            <a:off x="617517" y="3830040"/>
            <a:ext cx="356260" cy="356260"/>
          </a:xfrm>
          <a:prstGeom prst="ellipse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1691162" y="3830040"/>
            <a:ext cx="356260" cy="356260"/>
          </a:xfrm>
          <a:prstGeom prst="ellipse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Elipse"/>
          <p:cNvSpPr/>
          <p:nvPr/>
        </p:nvSpPr>
        <p:spPr>
          <a:xfrm>
            <a:off x="2693637" y="3830040"/>
            <a:ext cx="356260" cy="356260"/>
          </a:xfrm>
          <a:prstGeom prst="ellipse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Rectángulo redondeado"/>
          <p:cNvSpPr/>
          <p:nvPr/>
        </p:nvSpPr>
        <p:spPr>
          <a:xfrm>
            <a:off x="4724400" y="1993900"/>
            <a:ext cx="3962400" cy="2374900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Rectángulo redondeado"/>
          <p:cNvSpPr/>
          <p:nvPr/>
        </p:nvSpPr>
        <p:spPr>
          <a:xfrm>
            <a:off x="4724400" y="1993900"/>
            <a:ext cx="3959958" cy="2286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CuadroTexto"/>
          <p:cNvSpPr txBox="1"/>
          <p:nvPr/>
        </p:nvSpPr>
        <p:spPr>
          <a:xfrm>
            <a:off x="4724400" y="2278267"/>
            <a:ext cx="3959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>
                <a:solidFill>
                  <a:schemeClr val="bg1"/>
                </a:solidFill>
              </a:rPr>
              <a:t>  Aspectos de seguridad</a:t>
            </a:r>
          </a:p>
          <a:p>
            <a:endParaRPr lang="es-CL" dirty="0" smtClean="0">
              <a:solidFill>
                <a:schemeClr val="bg1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s-CL" dirty="0" smtClean="0">
                <a:solidFill>
                  <a:schemeClr val="bg1"/>
                </a:solidFill>
              </a:rPr>
              <a:t>Variables de entorno protegidas.</a:t>
            </a:r>
          </a:p>
          <a:p>
            <a:pPr marL="285750" indent="-285750">
              <a:buFont typeface="Arial" charset="0"/>
              <a:buChar char="•"/>
            </a:pPr>
            <a:r>
              <a:rPr lang="es-CL" dirty="0" smtClean="0">
                <a:solidFill>
                  <a:schemeClr val="bg1"/>
                </a:solidFill>
              </a:rPr>
              <a:t>Manejo de puertos dinámicos.</a:t>
            </a:r>
          </a:p>
          <a:p>
            <a:pPr marL="285750" indent="-285750">
              <a:buFont typeface="Arial" charset="0"/>
              <a:buChar char="•"/>
            </a:pPr>
            <a:r>
              <a:rPr lang="es-CL" dirty="0" smtClean="0">
                <a:solidFill>
                  <a:schemeClr val="bg1"/>
                </a:solidFill>
              </a:rPr>
              <a:t>CORS configurado para dominio.</a:t>
            </a:r>
          </a:p>
          <a:p>
            <a:pPr marL="285750" indent="-285750">
              <a:buFont typeface="Arial" charset="0"/>
              <a:buChar char="•"/>
            </a:pPr>
            <a:r>
              <a:rPr lang="es-CL" dirty="0" smtClean="0">
                <a:solidFill>
                  <a:schemeClr val="bg1"/>
                </a:solidFill>
              </a:rPr>
              <a:t>Encriptación básica de peticiones.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98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736353"/>
          </a:xfrm>
        </p:spPr>
        <p:txBody>
          <a:bodyPr>
            <a:normAutofit/>
          </a:bodyPr>
          <a:lstStyle/>
          <a:p>
            <a:r>
              <a:rPr lang="es-CL" sz="3600" b="0" dirty="0" smtClean="0">
                <a:solidFill>
                  <a:srgbClr val="00CDC8"/>
                </a:solidFill>
              </a:rPr>
              <a:t>| ASPECTOS DE INTEGRACION</a:t>
            </a:r>
            <a:endParaRPr lang="es-CL" sz="3600" b="0" dirty="0">
              <a:solidFill>
                <a:srgbClr val="00CDC8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4724400" y="1993900"/>
            <a:ext cx="3962400" cy="2374900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Rectángulo redondeado"/>
          <p:cNvSpPr/>
          <p:nvPr/>
        </p:nvSpPr>
        <p:spPr>
          <a:xfrm>
            <a:off x="4724400" y="1993900"/>
            <a:ext cx="3959958" cy="2286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CuadroTexto"/>
          <p:cNvSpPr txBox="1"/>
          <p:nvPr/>
        </p:nvSpPr>
        <p:spPr>
          <a:xfrm>
            <a:off x="4724400" y="2278267"/>
            <a:ext cx="3959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>
                <a:solidFill>
                  <a:srgbClr val="00CDC8"/>
                </a:solidFill>
              </a:rPr>
              <a:t>  </a:t>
            </a:r>
            <a:r>
              <a:rPr lang="es-CL" sz="2800" b="1" dirty="0" smtClean="0">
                <a:solidFill>
                  <a:srgbClr val="00CDC8"/>
                </a:solidFill>
              </a:rPr>
              <a:t>JSON</a:t>
            </a:r>
          </a:p>
          <a:p>
            <a:pPr algn="ctr"/>
            <a:endParaRPr lang="es-CL" dirty="0" smtClean="0">
              <a:solidFill>
                <a:schemeClr val="bg1"/>
              </a:solidFill>
            </a:endParaRPr>
          </a:p>
          <a:p>
            <a:pPr marL="285750" indent="-285750" algn="ctr">
              <a:buFont typeface="Arial" charset="0"/>
              <a:buChar char="•"/>
            </a:pPr>
            <a:r>
              <a:rPr lang="es-CL" dirty="0" smtClean="0">
                <a:solidFill>
                  <a:schemeClr val="bg1"/>
                </a:solidFill>
              </a:rPr>
              <a:t>Formato de intercambio de datos.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457200" y="1981200"/>
            <a:ext cx="3962400" cy="2374900"/>
          </a:xfrm>
          <a:prstGeom prst="roundRect">
            <a:avLst/>
          </a:prstGeom>
          <a:solidFill>
            <a:srgbClr val="00C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Rectángulo redondeado"/>
          <p:cNvSpPr/>
          <p:nvPr/>
        </p:nvSpPr>
        <p:spPr>
          <a:xfrm>
            <a:off x="457200" y="1981200"/>
            <a:ext cx="3959958" cy="2286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CuadroTexto"/>
          <p:cNvSpPr txBox="1"/>
          <p:nvPr/>
        </p:nvSpPr>
        <p:spPr>
          <a:xfrm>
            <a:off x="457200" y="2265567"/>
            <a:ext cx="3959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>
                <a:solidFill>
                  <a:schemeClr val="bg1"/>
                </a:solidFill>
              </a:rPr>
              <a:t>  </a:t>
            </a:r>
            <a:r>
              <a:rPr lang="es-CL" sz="2800" b="1" dirty="0" smtClean="0">
                <a:solidFill>
                  <a:srgbClr val="00CDC8"/>
                </a:solidFill>
              </a:rPr>
              <a:t>REST</a:t>
            </a:r>
          </a:p>
          <a:p>
            <a:pPr algn="ctr"/>
            <a:endParaRPr lang="es-CL" dirty="0" smtClean="0">
              <a:solidFill>
                <a:schemeClr val="bg1"/>
              </a:solidFill>
            </a:endParaRPr>
          </a:p>
          <a:p>
            <a:pPr algn="ctr"/>
            <a:r>
              <a:rPr lang="es-CL" dirty="0" smtClean="0">
                <a:solidFill>
                  <a:schemeClr val="bg1"/>
                </a:solidFill>
              </a:rPr>
              <a:t>Arquitectura de comunicación</a:t>
            </a:r>
          </a:p>
        </p:txBody>
      </p:sp>
      <p:sp>
        <p:nvSpPr>
          <p:cNvPr id="14" name="1 Título"/>
          <p:cNvSpPr txBox="1">
            <a:spLocks/>
          </p:cNvSpPr>
          <p:nvPr/>
        </p:nvSpPr>
        <p:spPr>
          <a:xfrm>
            <a:off x="609600" y="4667250"/>
            <a:ext cx="8229600" cy="736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1800" b="0" dirty="0" smtClean="0">
                <a:solidFill>
                  <a:schemeClr val="bg1"/>
                </a:solidFill>
              </a:rPr>
              <a:t>Uso exclusivo de la librería AXIOS para gestionar solicitudes HTTP asincrónicas hacia proveedores de vuelos (</a:t>
            </a:r>
            <a:r>
              <a:rPr lang="es-CL" sz="1800" b="0" dirty="0" err="1" smtClean="0">
                <a:solidFill>
                  <a:schemeClr val="bg1"/>
                </a:solidFill>
              </a:rPr>
              <a:t>Skycanner</a:t>
            </a:r>
            <a:r>
              <a:rPr lang="es-CL" sz="1800" b="0" dirty="0" smtClean="0">
                <a:solidFill>
                  <a:schemeClr val="bg1"/>
                </a:solidFill>
              </a:rPr>
              <a:t>), hoteles (</a:t>
            </a:r>
            <a:r>
              <a:rPr lang="es-CL" sz="1800" b="0" dirty="0" err="1" smtClean="0">
                <a:solidFill>
                  <a:schemeClr val="bg1"/>
                </a:solidFill>
              </a:rPr>
              <a:t>Booking</a:t>
            </a:r>
            <a:r>
              <a:rPr lang="es-CL" sz="1800" b="0" dirty="0" smtClean="0">
                <a:solidFill>
                  <a:schemeClr val="bg1"/>
                </a:solidFill>
              </a:rPr>
              <a:t>) y geolocalización.</a:t>
            </a:r>
            <a:endParaRPr lang="es-CL" sz="18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32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 smtClean="0">
                <a:solidFill>
                  <a:srgbClr val="00CDC8"/>
                </a:solidFill>
              </a:rPr>
              <a:t>| MOCKULPS: PANTALLA PRINCIPAL</a:t>
            </a:r>
            <a:endParaRPr lang="es-CL" sz="3600" dirty="0">
              <a:solidFill>
                <a:srgbClr val="00CDC8"/>
              </a:solidFill>
            </a:endParaRPr>
          </a:p>
        </p:txBody>
      </p:sp>
      <p:sp>
        <p:nvSpPr>
          <p:cNvPr id="8" name="7 Marcador de contenido"/>
          <p:cNvSpPr>
            <a:spLocks noGrp="1"/>
          </p:cNvSpPr>
          <p:nvPr>
            <p:ph sz="half" idx="2"/>
          </p:nvPr>
        </p:nvSpPr>
        <p:spPr>
          <a:xfrm>
            <a:off x="4648200" y="2497015"/>
            <a:ext cx="4038600" cy="2092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b="1" dirty="0" smtClean="0">
                <a:solidFill>
                  <a:srgbClr val="00CDC8"/>
                </a:solidFill>
              </a:rPr>
              <a:t>Experiencia centralizada</a:t>
            </a:r>
          </a:p>
          <a:p>
            <a:pPr marL="0" indent="0">
              <a:buNone/>
            </a:pPr>
            <a:endParaRPr lang="es-CL" sz="1800" dirty="0"/>
          </a:p>
          <a:p>
            <a:pPr marL="0" indent="0" algn="just">
              <a:buNone/>
            </a:pPr>
            <a:r>
              <a:rPr lang="es-CL" sz="1800" dirty="0" smtClean="0">
                <a:solidFill>
                  <a:schemeClr val="bg1"/>
                </a:solidFill>
              </a:rPr>
              <a:t>Interfaz limpia con foco de buscador global. Permite ingresar origen, destino, fechas y presupuesto de forma intuitiva.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62" y="2350865"/>
            <a:ext cx="3675185" cy="22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38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 smtClean="0">
                <a:solidFill>
                  <a:srgbClr val="00CDC8"/>
                </a:solidFill>
              </a:rPr>
              <a:t>| MOCKULPS: RESULTADO DE BUSQUEDA</a:t>
            </a:r>
            <a:endParaRPr lang="es-CL" sz="3600" dirty="0">
              <a:solidFill>
                <a:srgbClr val="00CDC8"/>
              </a:solidFill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1740877"/>
            <a:ext cx="4038600" cy="3982182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s-CL" sz="1800" b="1" dirty="0" smtClean="0">
                <a:solidFill>
                  <a:srgbClr val="00CDC8"/>
                </a:solidFill>
              </a:rPr>
              <a:t>Búsqueda</a:t>
            </a:r>
          </a:p>
          <a:p>
            <a:pPr marL="0" indent="0">
              <a:buNone/>
            </a:pPr>
            <a:r>
              <a:rPr lang="es-CL" sz="1800" dirty="0" smtClean="0">
                <a:solidFill>
                  <a:schemeClr val="bg1"/>
                </a:solidFill>
              </a:rPr>
              <a:t>Filtros avanzados por escalas, precios y tipo de alojamiento.</a:t>
            </a:r>
          </a:p>
          <a:p>
            <a:pPr marL="0" indent="0">
              <a:buNone/>
            </a:pPr>
            <a:endParaRPr lang="es-CL" sz="1800" dirty="0">
              <a:solidFill>
                <a:schemeClr val="bg1"/>
              </a:solidFill>
            </a:endParaRPr>
          </a:p>
          <a:p>
            <a:pPr>
              <a:buFont typeface="Arial" charset="0"/>
              <a:buChar char="•"/>
            </a:pPr>
            <a:r>
              <a:rPr lang="es-CL" sz="1800" b="1" dirty="0" smtClean="0">
                <a:solidFill>
                  <a:srgbClr val="00CDC8"/>
                </a:solidFill>
              </a:rPr>
              <a:t>Combinación</a:t>
            </a:r>
          </a:p>
          <a:p>
            <a:pPr marL="0" indent="0">
              <a:buNone/>
            </a:pPr>
            <a:r>
              <a:rPr lang="es-CL" sz="1800" dirty="0" smtClean="0">
                <a:solidFill>
                  <a:schemeClr val="bg1"/>
                </a:solidFill>
              </a:rPr>
              <a:t>Vista inteligente que une el vuelo más barato con el alojamiento mejor evaluado.</a:t>
            </a:r>
          </a:p>
          <a:p>
            <a:pPr marL="0" indent="0">
              <a:buNone/>
            </a:pPr>
            <a:endParaRPr lang="es-CL" sz="1800" dirty="0">
              <a:solidFill>
                <a:schemeClr val="bg1"/>
              </a:solidFill>
            </a:endParaRPr>
          </a:p>
          <a:p>
            <a:pPr>
              <a:buFont typeface="Arial" charset="0"/>
              <a:buChar char="•"/>
            </a:pPr>
            <a:r>
              <a:rPr lang="es-CL" sz="1800" dirty="0" smtClean="0">
                <a:solidFill>
                  <a:srgbClr val="00CDC8"/>
                </a:solidFill>
              </a:rPr>
              <a:t>Detalle</a:t>
            </a:r>
          </a:p>
          <a:p>
            <a:pPr marL="0" indent="0">
              <a:buNone/>
            </a:pPr>
            <a:r>
              <a:rPr lang="es-CL" sz="1800" dirty="0" smtClean="0">
                <a:solidFill>
                  <a:schemeClr val="bg1"/>
                </a:solidFill>
              </a:rPr>
              <a:t>Información técnica del vuelo y mapas de ubicación del lugar de alojamiento.</a:t>
            </a:r>
            <a:endParaRPr lang="es-CL" sz="1800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282" y="1417638"/>
            <a:ext cx="2419173" cy="2384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255" y="3802306"/>
            <a:ext cx="2005825" cy="2849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8506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 smtClean="0">
                <a:solidFill>
                  <a:srgbClr val="00CDC8"/>
                </a:solidFill>
              </a:rPr>
              <a:t>| CONCLUSION</a:t>
            </a:r>
            <a:endParaRPr lang="es-CL" sz="3600" dirty="0">
              <a:solidFill>
                <a:srgbClr val="00CDC8"/>
              </a:solidFill>
            </a:endParaRPr>
          </a:p>
        </p:txBody>
      </p:sp>
      <p:sp>
        <p:nvSpPr>
          <p:cNvPr id="8" name="7 Marcador de contenido"/>
          <p:cNvSpPr>
            <a:spLocks noGrp="1"/>
          </p:cNvSpPr>
          <p:nvPr>
            <p:ph sz="half" idx="1"/>
          </p:nvPr>
        </p:nvSpPr>
        <p:spPr>
          <a:xfrm>
            <a:off x="4775200" y="1587500"/>
            <a:ext cx="4038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US" sz="2300" b="1" i="1" dirty="0" err="1" smtClean="0">
                <a:solidFill>
                  <a:srgbClr val="00CDC8"/>
                </a:solidFill>
              </a:rPr>
              <a:t>Fly</a:t>
            </a:r>
            <a:r>
              <a:rPr lang="es-US" sz="2300" b="1" i="1" dirty="0" smtClean="0">
                <a:solidFill>
                  <a:srgbClr val="00CDC8"/>
                </a:solidFill>
              </a:rPr>
              <a:t> </a:t>
            </a:r>
            <a:r>
              <a:rPr lang="es-US" sz="2300" b="1" i="1" dirty="0">
                <a:solidFill>
                  <a:srgbClr val="00CDC8"/>
                </a:solidFill>
              </a:rPr>
              <a:t>and </a:t>
            </a:r>
            <a:r>
              <a:rPr lang="es-US" sz="2300" b="1" i="1" dirty="0" err="1">
                <a:solidFill>
                  <a:srgbClr val="00CDC8"/>
                </a:solidFill>
              </a:rPr>
              <a:t>Lodget</a:t>
            </a:r>
            <a:r>
              <a:rPr lang="es-US" sz="2300" i="1" dirty="0">
                <a:solidFill>
                  <a:srgbClr val="00CDC8"/>
                </a:solidFill>
              </a:rPr>
              <a:t> </a:t>
            </a:r>
            <a:r>
              <a:rPr lang="es-US" sz="2300" dirty="0">
                <a:solidFill>
                  <a:schemeClr val="bg1"/>
                </a:solidFill>
              </a:rPr>
              <a:t>centraliza la búsqueda de vuelos y alojamientos en un solo lugar, optimizando la planificación de viajes en tiempo real mediante </a:t>
            </a:r>
            <a:r>
              <a:rPr lang="es-US" sz="2300" dirty="0" err="1">
                <a:solidFill>
                  <a:schemeClr val="bg1"/>
                </a:solidFill>
              </a:rPr>
              <a:t>APIs</a:t>
            </a:r>
            <a:r>
              <a:rPr lang="es-US" sz="2300" dirty="0">
                <a:solidFill>
                  <a:schemeClr val="bg1"/>
                </a:solidFill>
              </a:rPr>
              <a:t> eficientes. Gracias al uso de metodologías ágiles y tecnología moderna, el sistema no solo es escalable y centrado en el usuario hoy, sino que queda preparado para el futuro, abriendo la puerta a pasarelas de pago y recomendaciones con Inteligencia Artificial</a:t>
            </a:r>
            <a:r>
              <a:rPr lang="es-US" sz="2300" dirty="0" smtClean="0">
                <a:solidFill>
                  <a:schemeClr val="bg1"/>
                </a:solidFill>
              </a:rPr>
              <a:t>.</a:t>
            </a:r>
            <a:endParaRPr lang="es-CL" sz="2300" dirty="0" smtClean="0">
              <a:solidFill>
                <a:schemeClr val="bg1"/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9" y="1587500"/>
            <a:ext cx="3117981" cy="426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0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375</Words>
  <Application>Microsoft Office PowerPoint</Application>
  <PresentationFormat>Presentación en pantalla (4:3)</PresentationFormat>
  <Paragraphs>62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Fly and Lodget</vt:lpstr>
      <vt:lpstr>| INTRODUCCION</vt:lpstr>
      <vt:lpstr>Implementación de ciclos cortos (Sprints) para asegurar  entregas funcionales constantes.</vt:lpstr>
      <vt:lpstr>| PATRONES DE DISEÑO</vt:lpstr>
      <vt:lpstr>| ARQUITECTURA DEL SISTEMA</vt:lpstr>
      <vt:lpstr>| Tecnologías utilizadas</vt:lpstr>
      <vt:lpstr>| CONFIGURACION DEL SERVIDOR</vt:lpstr>
      <vt:lpstr>| ASPECTOS DE INTEGRACION</vt:lpstr>
      <vt:lpstr>| MOCKULPS: PANTALLA PRINCIPAL</vt:lpstr>
      <vt:lpstr>| MOCKULPS: RESULTADO DE BUSQUEDA</vt:lpstr>
      <vt:lpstr>| 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Javiera Apablaza L</dc:creator>
  <dc:description>generated using python-pptx</dc:description>
  <cp:lastModifiedBy>Paz L</cp:lastModifiedBy>
  <cp:revision>10</cp:revision>
  <dcterms:created xsi:type="dcterms:W3CDTF">2013-01-27T09:14:16Z</dcterms:created>
  <dcterms:modified xsi:type="dcterms:W3CDTF">2026-06-02T04:59:25Z</dcterms:modified>
</cp:coreProperties>
</file>